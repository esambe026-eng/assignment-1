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7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Wingdings 3" pitchFamily="18" charset="2"/>
      <p:regular r:id="rId13"/>
    </p:embeddedFont>
    <p:embeddedFont>
      <p:font typeface="Arial Black" pitchFamily="34" charset="0"/>
      <p:bold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Microsoft YaHei UI" pitchFamily="34" charset="-122"/>
      <p:regular r:id="rId19"/>
      <p:bold r:id="rId20"/>
    </p:embeddedFont>
    <p:embeddedFont>
      <p:font typeface="Book Antiqua" pitchFamily="18" charset="0"/>
      <p:regular r:id="rId21"/>
      <p:bold r:id="rId22"/>
      <p:italic r:id="rId23"/>
      <p:boldItalic r:id="rId24"/>
    </p:embeddedFont>
    <p:embeddedFont>
      <p:font typeface="Wingdings 2" pitchFamily="18" charset="2"/>
      <p:regular r:id="rId25"/>
    </p:embeddedFont>
    <p:embeddedFont>
      <p:font typeface="Lucida Sans" pitchFamily="34" charset="0"/>
      <p:regular r:id="rId26"/>
      <p:bold r:id="rId27"/>
      <p:italic r:id="rId28"/>
      <p:boldItalic r:id="rId29"/>
    </p:embeddedFont>
    <p:embeddedFont>
      <p:font typeface="Broadway" pitchFamily="82" charset="0"/>
      <p:regular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-136" y="-8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372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75248" y="1645920"/>
            <a:ext cx="13167360" cy="2194560"/>
          </a:xfrm>
        </p:spPr>
        <p:txBody>
          <a:bodyPr vert="horz" lIns="65311" tIns="0" rIns="65311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69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94560" y="3998038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653110" indent="0" algn="ctr">
              <a:buNone/>
            </a:lvl2pPr>
            <a:lvl3pPr marL="1306220" indent="0" algn="ctr">
              <a:buNone/>
            </a:lvl3pPr>
            <a:lvl4pPr marL="1959331" indent="0" algn="ctr">
              <a:buNone/>
            </a:lvl4pPr>
            <a:lvl5pPr marL="2612441" indent="0" algn="ctr">
              <a:buNone/>
            </a:lvl5pPr>
            <a:lvl6pPr marL="3265551" indent="0" algn="ctr">
              <a:buNone/>
            </a:lvl6pPr>
            <a:lvl7pPr marL="3918661" indent="0" algn="ctr">
              <a:buNone/>
            </a:lvl7pPr>
            <a:lvl8pPr marL="4571771" indent="0" algn="ctr">
              <a:buNone/>
            </a:lvl8pPr>
            <a:lvl9pPr marL="5224882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0" y="731520"/>
            <a:ext cx="11338560" cy="219456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69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0320" y="3009343"/>
            <a:ext cx="11338560" cy="1811654"/>
          </a:xfrm>
        </p:spPr>
        <p:txBody>
          <a:bodyPr anchor="t"/>
          <a:lstStyle>
            <a:lvl1pPr marL="104498" indent="0" algn="l">
              <a:buNone/>
              <a:defRPr sz="2900">
                <a:solidFill>
                  <a:schemeClr val="tx1"/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679680" y="7700011"/>
            <a:ext cx="1219200" cy="43815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61760" cy="5431156"/>
          </a:xfrm>
        </p:spPr>
        <p:txBody>
          <a:bodyPr/>
          <a:lstStyle>
            <a:lvl1pPr>
              <a:defRPr sz="37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>
            <a:lvl1pPr>
              <a:defRPr sz="37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7660"/>
            <a:ext cx="13167360" cy="13716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5"/>
            <a:ext cx="6464301" cy="901064"/>
          </a:xfrm>
        </p:spPr>
        <p:txBody>
          <a:bodyPr anchor="ctr"/>
          <a:lstStyle>
            <a:lvl1pPr marL="0" indent="0">
              <a:buNone/>
              <a:defRPr sz="3400" b="0" cap="all" baseline="0">
                <a:solidFill>
                  <a:schemeClr val="tx1"/>
                </a:solidFill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432041" y="1842135"/>
            <a:ext cx="6466840" cy="901064"/>
          </a:xfrm>
        </p:spPr>
        <p:txBody>
          <a:bodyPr anchor="ctr"/>
          <a:lstStyle>
            <a:lvl1pPr marL="0" indent="0">
              <a:buNone/>
              <a:defRPr sz="3400" b="0" cap="all" baseline="0">
                <a:solidFill>
                  <a:schemeClr val="tx1"/>
                </a:solidFill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731520" y="2834640"/>
            <a:ext cx="6464301" cy="451675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1" y="2834640"/>
            <a:ext cx="6466840" cy="451675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1" y="327660"/>
            <a:ext cx="4813301" cy="139446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31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31521" y="1828800"/>
            <a:ext cx="4813301" cy="5522596"/>
          </a:xfr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3700"/>
            </a:lvl1pPr>
            <a:lvl2pPr>
              <a:defRPr sz="3400"/>
            </a:lvl2pPr>
            <a:lvl3pPr>
              <a:defRPr sz="3100"/>
            </a:lvl3pPr>
            <a:lvl4pPr>
              <a:defRPr sz="2900"/>
            </a:lvl4pPr>
            <a:lvl5pPr>
              <a:defRPr sz="2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0" y="731520"/>
            <a:ext cx="8778240" cy="626746"/>
          </a:xfrm>
        </p:spPr>
        <p:txBody>
          <a:bodyPr lIns="65311" rIns="65311" bIns="0" anchor="b">
            <a:sp3d prstMaterial="softEdge"/>
          </a:bodyPr>
          <a:lstStyle>
            <a:lvl1pPr algn="ctr">
              <a:buNone/>
              <a:defRPr sz="29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26080" y="2198370"/>
            <a:ext cx="8778240" cy="475488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46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6080" y="1400145"/>
            <a:ext cx="8778240" cy="636422"/>
          </a:xfrm>
        </p:spPr>
        <p:txBody>
          <a:bodyPr lIns="65311" tIns="65311" rIns="65311" anchor="t"/>
          <a:lstStyle>
            <a:lvl1pPr marL="0" indent="0" algn="ctr">
              <a:buNone/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569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617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0802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913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221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005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712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0041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212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41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22" tIns="65311" rIns="130622" bIns="65311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650992"/>
          </a:xfrm>
          <a:prstGeom prst="rect">
            <a:avLst/>
          </a:prstGeom>
        </p:spPr>
        <p:txBody>
          <a:bodyPr vert="horz" lIns="130622" tIns="65311" rIns="130622" bIns="65311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31520" y="7700011"/>
            <a:ext cx="3413760" cy="438150"/>
          </a:xfrm>
          <a:prstGeom prst="rect">
            <a:avLst/>
          </a:prstGeom>
        </p:spPr>
        <p:txBody>
          <a:bodyPr vert="horz" lIns="130622" tIns="65311" rIns="130622" bIns="65311" anchor="b"/>
          <a:lstStyle>
            <a:lvl1pPr algn="l" eaLnBrk="1" latinLnBrk="0" hangingPunct="1">
              <a:defRPr kumimoji="0" sz="17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998720" y="7700011"/>
            <a:ext cx="4632960" cy="438150"/>
          </a:xfrm>
          <a:prstGeom prst="rect">
            <a:avLst/>
          </a:prstGeom>
        </p:spPr>
        <p:txBody>
          <a:bodyPr vert="horz" lIns="130622" tIns="65311" rIns="130622" bIns="65311" anchor="b"/>
          <a:lstStyle>
            <a:lvl1pPr algn="ctr" eaLnBrk="1" latinLnBrk="0" hangingPunct="1">
              <a:defRPr kumimoji="0" sz="17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2679680" y="7700011"/>
            <a:ext cx="1219200" cy="438150"/>
          </a:xfrm>
          <a:prstGeom prst="rect">
            <a:avLst/>
          </a:prstGeom>
        </p:spPr>
        <p:txBody>
          <a:bodyPr vert="horz" lIns="0" tIns="65311" rIns="0" bIns="65311" anchor="b"/>
          <a:lstStyle>
            <a:lvl1pPr algn="r" eaLnBrk="1" latinLnBrk="0" hangingPunct="1">
              <a:defRPr kumimoji="0" sz="17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79" r:id="rId1"/>
    <p:sldLayoutId id="2147483980" r:id="rId2"/>
    <p:sldLayoutId id="2147483981" r:id="rId3"/>
    <p:sldLayoutId id="2147483982" r:id="rId4"/>
    <p:sldLayoutId id="2147483983" r:id="rId5"/>
    <p:sldLayoutId id="2147483984" r:id="rId6"/>
    <p:sldLayoutId id="2147483985" r:id="rId7"/>
    <p:sldLayoutId id="2147483986" r:id="rId8"/>
    <p:sldLayoutId id="2147483987" r:id="rId9"/>
    <p:sldLayoutId id="2147483988" r:id="rId10"/>
    <p:sldLayoutId id="2147483989" r:id="rId11"/>
    <p:sldLayoutId id="2147483990" r:id="rId12"/>
    <p:sldLayoutId id="2147483991" r:id="rId13"/>
    <p:sldLayoutId id="2147483992" r:id="rId14"/>
    <p:sldLayoutId id="2147483993" r:id="rId15"/>
    <p:sldLayoutId id="2147483994" r:id="rId16"/>
    <p:sldLayoutId id="2147483995" r:id="rId17"/>
    <p:sldLayoutId id="2147483996" r:id="rId18"/>
    <p:sldLayoutId id="2147483997" r:id="rId19"/>
    <p:sldLayoutId id="2147483998" r:id="rId20"/>
    <p:sldLayoutId id="2147483999" r:id="rId21"/>
  </p:sldLayoutIdLs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59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783732" indent="-587799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1240909" indent="-404928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619713" indent="-326555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1933206" indent="-261244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207512" indent="-261244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5" indent="-261244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2808374" indent="-261244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095742" indent="-261244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383111" indent="-261244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1153"/>
            <a:ext cx="60327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roadway" pitchFamily="82" charset="0"/>
                <a:ea typeface="Inter Bold" pitchFamily="34" charset="-122"/>
                <a:cs typeface="Inter Bold" pitchFamily="34" charset="-120"/>
              </a:rPr>
              <a:t>Name: </a:t>
            </a:r>
            <a:r>
              <a:rPr lang="en-US" sz="4450" b="1" dirty="0" smtClean="0">
                <a:solidFill>
                  <a:srgbClr val="000000"/>
                </a:solidFill>
                <a:latin typeface="Broadway" pitchFamily="82" charset="0"/>
                <a:ea typeface="Inter Bold" pitchFamily="34" charset="-122"/>
                <a:cs typeface="Inter Bold" pitchFamily="34" charset="-120"/>
              </a:rPr>
              <a:t>ESAMBE THIERY</a:t>
            </a:r>
            <a:endParaRPr lang="en-US" sz="4450" b="1" dirty="0">
              <a:latin typeface="Broadway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360658"/>
            <a:ext cx="9543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roadway" pitchFamily="82" charset="0"/>
                <a:ea typeface="Inter Bold" pitchFamily="34" charset="-122"/>
                <a:cs typeface="Inter Bold" pitchFamily="34" charset="-120"/>
              </a:rPr>
              <a:t>Department: software engineering</a:t>
            </a:r>
            <a:endParaRPr lang="en-US" sz="4450" dirty="0">
              <a:latin typeface="Broadway" pitchFamily="8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160163"/>
            <a:ext cx="74617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roadway" pitchFamily="82" charset="0"/>
                <a:ea typeface="Inter Bold" pitchFamily="34" charset="-122"/>
                <a:cs typeface="Inter Bold" pitchFamily="34" charset="-120"/>
              </a:rPr>
              <a:t>Course: Web Programming</a:t>
            </a:r>
            <a:endParaRPr lang="en-US" sz="4450" dirty="0">
              <a:latin typeface="Broadway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9596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roadway" pitchFamily="82" charset="0"/>
                <a:ea typeface="Inter Bold" pitchFamily="34" charset="-122"/>
                <a:cs typeface="Inter Bold" pitchFamily="34" charset="-120"/>
              </a:rPr>
              <a:t>Level: 1</a:t>
            </a:r>
            <a:endParaRPr lang="en-US" sz="4450" dirty="0">
              <a:latin typeface="Broadway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7689"/>
            <a:ext cx="84271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What Are HTTP Status Codes?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630097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3-digit numbers sent by server in every HTTP response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First digit = category (class)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Tell client: success? error? what next?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Defined mainly in RFC 9110 + extensions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Appear in browser dev tools, API logs, curl -i, etc.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76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The 5 Main Classes 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630097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1xx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Informational (rarely visible)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2xx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Success (what we want!)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3xx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Redirection (browser usually follows)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4xx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Client error (your fault / fix request)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5xx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Server error (their problem / try later)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5555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1xx Very technical – mostly handled by protocol layers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426744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100 Continue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Client: “I’m sending a big body — ok?” → Server: “Yes, go ahead”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101 Switching Protocols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Upgrading to WebSocket, HTTP/2, etc.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103 Early Hints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Server sends links/preloads before full response (performance)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8981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2xx Success – The Happy Codes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200 OK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Everything good + usually has body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201 Created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POST succeeded → new resource born (Location header often)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202 Accepted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Request accepted, processing later (async jobs, queues)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204 No Content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Success but deliberately empty body (DELETE, PATCH often)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82728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3xx Redirection – Where to go next</a:t>
            </a:r>
            <a:endParaRPr lang="en-US" sz="4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149090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301 Moved Permanently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URL changed forever (update links, SEO)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302 Found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307 Temporary Redirect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Temporary move (keep original method with 307)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303 See Other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After POST, redirect to GET (common pattern)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304 Not Modified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Cache hit! (If-None-Match / If-Modified-Since)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110244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4xx Client Errors – You broke something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400 Bad Request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Generic: bad syntax, invalid JSON, wrong format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401 Unauthorized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Authentication needed / bad credentials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403 Forbidden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Authenticated but no permission (e.g. admin-only)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404 Not Found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Classic: resource/page gone/mistyped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73785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More Important 4xx Codes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405 Method Not Allowed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Wrong verb (GET on write endpoint, etc.)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409 Conflict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State mismatch (e.g. trying to create duplicate email)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429 Too Many Requests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Rate limit hit → slow down!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431 Request Header Fields Too Large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Headers too big (cookies, auth tokens…)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91557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5xx Server Errors – Not your fault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500 Internal Server Error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Generic crash / unexpected exception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502 Bad Gateway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Proxy/load balancer → upstream server died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503 Service Unavailable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Server down for maintenance / overload (Retry-After helpful)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504 Gateway Timeout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Upstream took too long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38294"/>
            <a:ext cx="1306449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Most Frequently Used Codes (Real-World Top 12)</a:t>
            </a:r>
            <a:endParaRPr lang="en-US" sz="4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955" y="2477810"/>
            <a:ext cx="13064490" cy="511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200  OK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404  Not Found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500  Internal Server Error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4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301  Moved Permanently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5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400  Bad Request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6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401  Unauthorized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7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403  Forbidden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8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429  Too Many Requests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9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201   Created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10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204  No Content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11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304  Not Modified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12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503  Service Unavailable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22</TotalTime>
  <Words>504</Words>
  <Application>Microsoft Office PowerPoint</Application>
  <PresentationFormat>Custom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</vt:lpstr>
      <vt:lpstr>Wingdings 3</vt:lpstr>
      <vt:lpstr>Arial Black</vt:lpstr>
      <vt:lpstr>Calibri</vt:lpstr>
      <vt:lpstr>Microsoft YaHei UI</vt:lpstr>
      <vt:lpstr>Inter Bold</vt:lpstr>
      <vt:lpstr>Book Antiqua</vt:lpstr>
      <vt:lpstr>Wingdings 2</vt:lpstr>
      <vt:lpstr>Lucida Sans</vt:lpstr>
      <vt:lpstr>Wingdings</vt:lpstr>
      <vt:lpstr>Broadway</vt:lpstr>
      <vt:lpstr>Inter</vt:lpstr>
      <vt:lpstr>Apex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Dibran</dc:creator>
  <cp:lastModifiedBy>DELL</cp:lastModifiedBy>
  <cp:revision>6</cp:revision>
  <dcterms:created xsi:type="dcterms:W3CDTF">2026-03-02T15:55:17Z</dcterms:created>
  <dcterms:modified xsi:type="dcterms:W3CDTF">2026-03-05T13:07:06Z</dcterms:modified>
</cp:coreProperties>
</file>